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72" r:id="rId8"/>
    <p:sldId id="264" r:id="rId9"/>
    <p:sldId id="265" r:id="rId10"/>
    <p:sldId id="273" r:id="rId11"/>
    <p:sldId id="266" r:id="rId12"/>
    <p:sldId id="275" r:id="rId13"/>
    <p:sldId id="268" r:id="rId14"/>
    <p:sldId id="276" r:id="rId15"/>
    <p:sldId id="269" r:id="rId16"/>
    <p:sldId id="277" r:id="rId17"/>
    <p:sldId id="271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25" autoAdjust="0"/>
    <p:restoredTop sz="94660"/>
  </p:normalViewPr>
  <p:slideViewPr>
    <p:cSldViewPr snapToGrid="0">
      <p:cViewPr varScale="1">
        <p:scale>
          <a:sx n="93" d="100"/>
          <a:sy n="93" d="100"/>
        </p:scale>
        <p:origin x="42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6/6/2026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BB0CF-3167-0EEE-F147-EE4DE6E666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09F8EA-46FB-CFB5-C2C1-CDE52F2D88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1C3922-8477-F641-70A7-DD5F0FF899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561353-CC81-C5C8-49BE-02E4AF9040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4083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6272DE-8113-165A-3523-F02F68521B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054CC9-D689-C1BA-102D-949ED797CC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35D888-00A7-E81B-26D4-33B5AE1CD6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72BE4F-2A2B-88D2-C9FE-8A8AAB2C3E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276335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3FCBA3-D0F0-04BD-29D2-4D0AADEC0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20A92A-90F3-023F-BF3A-7B0C573B84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DB472E-0504-5079-5F24-230E4FEA16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0B2B28-CF44-AC3C-993E-310DA793924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11244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FBA66C-BE83-6ECF-CCAF-DFC72CF0F6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FFBFB8-1E65-A3E1-9D0A-F3EB6E34F5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CA6074-85F2-7EB0-05F4-03FCFE64AA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5C8C42-68DE-DB9C-538B-1E55C2C1F0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262958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D1D023-FCFE-335F-F98B-A3C8E75929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DF2786-9CF5-20BA-AD7C-0EE9B3273D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72BE16-DBB1-E33A-6B2B-FCAF12539E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89FBC4-C45F-9302-F8D7-2892ADEE85F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543473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 l="-3000" r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4300" y="0"/>
            <a:ext cx="114300" cy="51435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24548" y="2926081"/>
            <a:ext cx="617377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 framework for analyzing industry, geography, workforce, financial, and temporal dimensions across a multi-attribute company dataset.</a:t>
            </a:r>
            <a:endParaRPr lang="en-US" sz="16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629044" y="4198357"/>
            <a:ext cx="1371600" cy="0"/>
          </a:xfrm>
          <a:prstGeom prst="line">
            <a:avLst/>
          </a:prstGeom>
          <a:noFill/>
          <a:ln w="25400">
            <a:solidFill>
              <a:srgbClr val="E07A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29044" y="4218852"/>
            <a:ext cx="172001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Sukanya Naik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2920"/>
            <a:ext cx="9144000" cy="45720"/>
          </a:xfrm>
          <a:prstGeom prst="rect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4572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· Industry Dataset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6858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914400" cy="0"/>
          </a:xfrm>
          <a:prstGeom prst="line">
            <a:avLst/>
          </a:prstGeom>
          <a:noFill/>
          <a:ln w="25400">
            <a:solidFill>
              <a:srgbClr val="E07A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on Industry Data  ·  02</a:t>
            </a:r>
            <a:endParaRPr lang="en-US" sz="900" dirty="0"/>
          </a:p>
        </p:txBody>
      </p:sp>
      <p:pic>
        <p:nvPicPr>
          <p:cNvPr id="1026" name="Picture 2" descr="EDA workflow pipeline">
            <a:extLst>
              <a:ext uri="{FF2B5EF4-FFF2-40B4-BE49-F238E27FC236}">
                <a16:creationId xmlns:a16="http://schemas.microsoft.com/office/drawing/2014/main" id="{B07047C8-BD05-A071-7649-8A2470DB82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8684" y="1421327"/>
            <a:ext cx="4554559" cy="30363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A3FC072F-05CC-B790-A22F-A603B939FEB6}"/>
              </a:ext>
            </a:extLst>
          </p:cNvPr>
          <p:cNvSpPr txBox="1"/>
          <p:nvPr/>
        </p:nvSpPr>
        <p:spPr>
          <a:xfrm>
            <a:off x="141890" y="1537139"/>
            <a:ext cx="417786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b="1" dirty="0"/>
              <a:t>Exploratory Data Analysis (EDA)</a:t>
            </a:r>
            <a:r>
              <a:rPr lang="en-US" sz="1200" dirty="0"/>
              <a:t> is a statistical process used to understand datasets using </a:t>
            </a:r>
            <a:r>
              <a:rPr lang="en-US" sz="1200" b="1" dirty="0"/>
              <a:t>Summary statistics, Visualizations and Relationship analysis.</a:t>
            </a:r>
          </a:p>
          <a:p>
            <a:endParaRPr lang="en-US" sz="1200" dirty="0"/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/>
              <a:t>It is typically performed </a:t>
            </a:r>
            <a:r>
              <a:rPr lang="en-US" sz="1200" b="1" dirty="0"/>
              <a:t>before predictive modeling or machine learning</a:t>
            </a:r>
            <a:r>
              <a:rPr lang="en-US" sz="1200" dirty="0"/>
              <a:t> to uncover patterns, anomalies, and insights.</a:t>
            </a:r>
          </a:p>
          <a:p>
            <a:endParaRPr lang="en-US" sz="1200" dirty="0"/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altLang="en-US" sz="1200" b="1" dirty="0"/>
              <a:t>Dataset</a:t>
            </a:r>
            <a:r>
              <a:rPr lang="en-US" altLang="en-US" sz="1200" dirty="0"/>
              <a:t>: Large‑scale industry performance dataset</a:t>
            </a:r>
          </a:p>
          <a:p>
            <a:endParaRPr lang="en-US" altLang="en-US" sz="1200" dirty="0"/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altLang="en-US" sz="1200" b="1" dirty="0"/>
              <a:t>Size</a:t>
            </a:r>
            <a:r>
              <a:rPr lang="en-US" altLang="en-US" sz="1200" dirty="0"/>
              <a:t>: ~15,000 records, 12 variables</a:t>
            </a:r>
          </a:p>
          <a:p>
            <a:endParaRPr lang="en-US" altLang="en-US" sz="1200" dirty="0"/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altLang="en-US" sz="1200" b="1" dirty="0"/>
              <a:t>Scope</a:t>
            </a:r>
            <a:r>
              <a:rPr lang="en-US" altLang="en-US" sz="1200" dirty="0"/>
              <a:t>: Comprehensive EDA across multiple dimensions that includes data load, understand structure, clean, analyze &amp; visualize. </a:t>
            </a:r>
          </a:p>
          <a:p>
            <a:endParaRPr lang="en-IN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2920"/>
            <a:ext cx="9144000" cy="45720"/>
          </a:xfrm>
          <a:prstGeom prst="rect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4572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· Industry Dataset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6858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914400" cy="0"/>
          </a:xfrm>
          <a:prstGeom prst="line">
            <a:avLst/>
          </a:prstGeom>
          <a:noFill/>
          <a:ln w="25400">
            <a:solidFill>
              <a:srgbClr val="E07A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3258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columns spanning categorical, numerical, and temporal dimensions of industry entities.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5594324"/>
              </p:ext>
            </p:extLst>
          </p:nvPr>
        </p:nvGraphicFramePr>
        <p:xfrm>
          <a:off x="365760" y="1737360"/>
          <a:ext cx="8412480" cy="284988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industry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E7C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Categorical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Sector classification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E7C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Categorical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Country of operation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E7C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Categorical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Macro region grouping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employee_count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E7C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Workforce size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annual_revenue_million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E7C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Top-line revenue (M)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profit_margin_percent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E7C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Profitability ratio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customer_count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E7C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customer base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market_rating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E7C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Composite market score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founded_year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E7C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of founding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created_date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E7C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 creation date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on Industry Data  ·  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2920"/>
            <a:ext cx="9144000" cy="45720"/>
          </a:xfrm>
          <a:prstGeom prst="rect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4572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· Industry Dataset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6858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Objectives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914400" cy="0"/>
          </a:xfrm>
          <a:prstGeom prst="line">
            <a:avLst/>
          </a:prstGeom>
          <a:noFill/>
          <a:ln w="25400">
            <a:solidFill>
              <a:srgbClr val="E07A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417320"/>
            <a:ext cx="2670048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8E4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65760" y="1417320"/>
            <a:ext cx="73152" cy="155448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1508760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Structure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1874520"/>
            <a:ext cx="2395728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data types, ranges, and cardinality across all ten columns.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18688" y="1417320"/>
            <a:ext cx="2670048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8E4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18688" y="1417320"/>
            <a:ext cx="73152" cy="1554480"/>
          </a:xfrm>
          <a:prstGeom prst="rect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401568" y="1508760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Quality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01568" y="1874520"/>
            <a:ext cx="2395728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missing values, duplicates, type mismatches, and date integrity.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71616" y="1417320"/>
            <a:ext cx="2670048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8E4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071616" y="1417320"/>
            <a:ext cx="73152" cy="155448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254496" y="1508760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Patterns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54496" y="1874520"/>
            <a:ext cx="2395728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Reveal distributions, central tendencies, and skew in numerical fields.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108960"/>
            <a:ext cx="2670048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8E4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65760" y="3108960"/>
            <a:ext cx="73152" cy="155448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48640" y="3200400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 Relationships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3566160"/>
            <a:ext cx="2395728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correlations between revenue, margin, employees, and rating.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18688" y="3108960"/>
            <a:ext cx="2670048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8E4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218688" y="3108960"/>
            <a:ext cx="73152" cy="1554480"/>
          </a:xfrm>
          <a:prstGeom prst="rect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401568" y="3200400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the Market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401568" y="3566160"/>
            <a:ext cx="2395728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industries, countries, and regions across key metrics.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071616" y="3108960"/>
            <a:ext cx="2670048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8E4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071616" y="3108960"/>
            <a:ext cx="73152" cy="155448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254496" y="3200400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Anomalies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254496" y="3566160"/>
            <a:ext cx="2395728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outliers and unusual cohorts requiring further review.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on Industry Data  ·  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2920"/>
            <a:ext cx="9144000" cy="45720"/>
          </a:xfrm>
          <a:prstGeom prst="rect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4572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· Industry Dataset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6858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Data Structure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914400" cy="0"/>
          </a:xfrm>
          <a:prstGeom prst="line">
            <a:avLst/>
          </a:prstGeom>
          <a:noFill/>
          <a:ln w="25400">
            <a:solidFill>
              <a:srgbClr val="E07A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3716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Steps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1737360"/>
            <a:ext cx="42062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200" dirty="0"/>
              <a:t>Importing all the required libraries like </a:t>
            </a:r>
            <a:r>
              <a:rPr lang="en-IN" sz="1200" b="1" dirty="0"/>
              <a:t>NumPy, Pandas, Matplotlib</a:t>
            </a:r>
            <a:r>
              <a:rPr lang="en-IN" sz="1200" dirty="0"/>
              <a:t> &amp; </a:t>
            </a:r>
            <a:r>
              <a:rPr lang="en-IN" sz="1200" b="1" dirty="0"/>
              <a:t>Seaborn.</a:t>
            </a:r>
            <a:endParaRPr lang="en-US" sz="1200" b="1" dirty="0"/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200" dirty="0"/>
              <a:t>Column Names &amp; Data Types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200" dirty="0"/>
              <a:t>Identify categorical, numerical, datetime, and text fields by using </a:t>
            </a:r>
            <a:r>
              <a:rPr lang="en-US" sz="1200" b="1" dirty="0"/>
              <a:t>df.info()</a:t>
            </a:r>
            <a:r>
              <a:rPr lang="en-US" sz="1200" dirty="0"/>
              <a:t>. If required change the datatype.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200" dirty="0"/>
              <a:t>Previewing Data:</a:t>
            </a:r>
            <a:r>
              <a:rPr lang="en-US" sz="1200" b="1" dirty="0"/>
              <a:t> </a:t>
            </a:r>
            <a:r>
              <a:rPr lang="en-US" sz="1200" dirty="0"/>
              <a:t>Use .</a:t>
            </a:r>
            <a:r>
              <a:rPr lang="en-US" sz="1200" b="1" dirty="0"/>
              <a:t>head() or .tail() </a:t>
            </a:r>
            <a:r>
              <a:rPr lang="en-US" sz="1200" dirty="0"/>
              <a:t>to view a few records.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200" dirty="0"/>
              <a:t>Checking for missing &amp; duplicate values using </a:t>
            </a:r>
            <a:r>
              <a:rPr lang="en-IN" sz="1200" dirty="0"/>
              <a:t> </a:t>
            </a:r>
            <a:r>
              <a:rPr lang="en-IN" sz="1200" b="1" dirty="0"/>
              <a:t>df.isnull().sum() </a:t>
            </a:r>
            <a:r>
              <a:rPr lang="en-IN" sz="1200" dirty="0"/>
              <a:t>&amp; </a:t>
            </a:r>
            <a:r>
              <a:rPr lang="en-IN" sz="1200" b="1" dirty="0"/>
              <a:t>df.duplicated().sum()</a:t>
            </a:r>
            <a:endParaRPr lang="en-US" sz="1200" b="1" dirty="0"/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200" dirty="0"/>
              <a:t>Checking for null values using </a:t>
            </a:r>
            <a:r>
              <a:rPr lang="en-IN" sz="1200" b="1" dirty="0"/>
              <a:t>df.isnull().sum()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IN" sz="1200" dirty="0"/>
              <a:t>Performing </a:t>
            </a:r>
            <a:r>
              <a:rPr lang="en-US" sz="1200" dirty="0"/>
              <a:t>Summary Statistics using </a:t>
            </a:r>
            <a:r>
              <a:rPr lang="en-US" sz="1200" b="1" dirty="0"/>
              <a:t>describe() </a:t>
            </a:r>
            <a:r>
              <a:rPr lang="en-US" sz="1200" dirty="0"/>
              <a:t>in Pandas gives mean, median, min, max, and quartiles for numeric columns that reveals distribution tendencies and potential anomalies.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200" dirty="0"/>
              <a:t>Performing different types of analysis like univariate, bivariate &amp; multivariate.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200" dirty="0"/>
              <a:t>Outliers detection using different methods that shows data distribution and outliers if present.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endParaRPr lang="en-IN" sz="1200" b="1" dirty="0"/>
          </a:p>
          <a:p>
            <a:pPr marL="171450" indent="-171450">
              <a:buFont typeface="Wingdings" panose="05000000000000000000" pitchFamily="2" charset="2"/>
              <a:buChar char="v"/>
            </a:pPr>
            <a:endParaRPr lang="en-IN" sz="1200" b="1" dirty="0"/>
          </a:p>
          <a:p>
            <a:pPr marL="171450" indent="-171450">
              <a:buFont typeface="Wingdings" panose="05000000000000000000" pitchFamily="2" charset="2"/>
              <a:buChar char="v"/>
            </a:pPr>
            <a:endParaRPr lang="en-US" sz="1200" dirty="0"/>
          </a:p>
          <a:p>
            <a:endParaRPr lang="en-US" sz="1200" dirty="0"/>
          </a:p>
          <a:p>
            <a:pPr>
              <a:spcAft>
                <a:spcPts val="600"/>
              </a:spcAft>
              <a:buSzPct val="100000"/>
            </a:pPr>
            <a:endParaRPr lang="en-US" sz="1200" dirty="0">
              <a:solidFill>
                <a:srgbClr val="1F293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on Industry Data  ·  05</a:t>
            </a:r>
            <a:endParaRPr lang="en-US" sz="90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F2741751-7E8A-CBB3-146A-305E336594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5957" y="1805940"/>
            <a:ext cx="4012283" cy="26517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2920"/>
            <a:ext cx="9144000" cy="45720"/>
          </a:xfrm>
          <a:prstGeom prst="rect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4572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· Industry Dataset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6858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Univariate - </a:t>
            </a:r>
            <a:r>
              <a:rPr lang="en-US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fields</a:t>
            </a:r>
            <a:endParaRPr lang="en-IN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914400" cy="0"/>
          </a:xfrm>
          <a:prstGeom prst="line">
            <a:avLst/>
          </a:prstGeom>
          <a:noFill/>
          <a:ln w="25400">
            <a:solidFill>
              <a:srgbClr val="E07A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10942" y="1383030"/>
            <a:ext cx="42062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b="1" dirty="0"/>
              <a:t>Univariate analysis </a:t>
            </a:r>
            <a:r>
              <a:rPr lang="en-US" sz="1200" dirty="0"/>
              <a:t>refers to the analysis of a single variable (one feature) to understand its characteristics and distribution.</a:t>
            </a:r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r</a:t>
            </a:r>
            <a:r>
              <a:rPr lang="en-US" sz="1200" dirty="0"/>
              <a:t>epresents measurable values (numbers) like age, salary, height, etc. Supports mathematical operations (add, subtract, average)</a:t>
            </a:r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/>
              <a:t>By forming a loop of all numerical values plotting histogram &amp; boxplot</a:t>
            </a:r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/>
              <a:t>Ex: univariate analysis of employee count  in histogram and with a median line at center in boxplot showing equal distribution of data across.</a:t>
            </a:r>
          </a:p>
        </p:txBody>
      </p:sp>
      <p:sp>
        <p:nvSpPr>
          <p:cNvPr id="22" name="Text 20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on Industry Data  ·  06</a:t>
            </a:r>
            <a:endParaRPr lang="en-US" sz="90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218534A7-6899-31AE-226A-9D4BDAAAA2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102" y="3062846"/>
            <a:ext cx="3396638" cy="54864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DF54DDF3-B093-B8A5-3B1E-3EB6553B20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1118" y="672052"/>
            <a:ext cx="3816633" cy="417426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61DF53-280D-79A8-3456-20A6FE422A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AAA4D74-48C5-D452-416D-0101A34E1305}"/>
              </a:ext>
            </a:extLst>
          </p:cNvPr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FB9ACF90-C6A4-8D70-C27C-718F626FC6D0}"/>
              </a:ext>
            </a:extLst>
          </p:cNvPr>
          <p:cNvSpPr/>
          <p:nvPr/>
        </p:nvSpPr>
        <p:spPr>
          <a:xfrm>
            <a:off x="0" y="502920"/>
            <a:ext cx="9144000" cy="45720"/>
          </a:xfrm>
          <a:prstGeom prst="rect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8D58AE7-16A8-CFFF-C116-96AFCD96EBDD}"/>
              </a:ext>
            </a:extLst>
          </p:cNvPr>
          <p:cNvSpPr/>
          <p:nvPr/>
        </p:nvSpPr>
        <p:spPr>
          <a:xfrm>
            <a:off x="365760" y="4572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· Industry Dataset</a:t>
            </a:r>
            <a:endParaRPr lang="en-US" sz="11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781813B-8CB6-E0F2-804A-BAE59A42A156}"/>
              </a:ext>
            </a:extLst>
          </p:cNvPr>
          <p:cNvSpPr/>
          <p:nvPr/>
        </p:nvSpPr>
        <p:spPr>
          <a:xfrm>
            <a:off x="365760" y="6858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Univariate - </a:t>
            </a:r>
            <a:r>
              <a:rPr lang="en-US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fields</a:t>
            </a:r>
            <a:endParaRPr lang="en-US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AFA2B22A-FDED-90CF-FF06-A980D1E64F1C}"/>
              </a:ext>
            </a:extLst>
          </p:cNvPr>
          <p:cNvSpPr/>
          <p:nvPr/>
        </p:nvSpPr>
        <p:spPr>
          <a:xfrm>
            <a:off x="365760" y="1234440"/>
            <a:ext cx="914400" cy="0"/>
          </a:xfrm>
          <a:prstGeom prst="line">
            <a:avLst/>
          </a:prstGeom>
          <a:noFill/>
          <a:ln w="25400">
            <a:solidFill>
              <a:srgbClr val="E07A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87C57161-0DE9-A7CB-037B-3FDB0C9A535D}"/>
              </a:ext>
            </a:extLst>
          </p:cNvPr>
          <p:cNvSpPr/>
          <p:nvPr/>
        </p:nvSpPr>
        <p:spPr>
          <a:xfrm>
            <a:off x="365760" y="1417321"/>
            <a:ext cx="8589054" cy="131444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/>
              <a:t>Categorical represents labels or groups (non-numeric values) like gender, region, product type. Cannot perform arithmetic operations </a:t>
            </a:r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/>
              <a:t>By forming a loop of all categorical values plotting horizontal bar chart &amp; donut visual.</a:t>
            </a:r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/>
              <a:t>Ex: Donut chart showing percent distribution of data region wise that tells North America has max count compared to other regions.</a:t>
            </a:r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FA20EFFB-1476-E65D-36F1-2585E4B57E45}"/>
              </a:ext>
            </a:extLst>
          </p:cNvPr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on Industry Data  ·  06</a:t>
            </a:r>
            <a:endParaRPr lang="en-US" sz="9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07DFCC2-7FCF-3673-83C1-8EB0A56B9A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110166"/>
            <a:ext cx="3294695" cy="27079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C99A484-43B3-0D04-7EB9-BBE311ABA6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2914650"/>
            <a:ext cx="5557346" cy="1855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9635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2920"/>
            <a:ext cx="9144000" cy="45720"/>
          </a:xfrm>
          <a:prstGeom prst="rect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4572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· Industry Dataset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6858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Bivariate – </a:t>
            </a:r>
            <a:r>
              <a:rPr lang="en-US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vs Numerical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914400" cy="0"/>
          </a:xfrm>
          <a:prstGeom prst="line">
            <a:avLst/>
          </a:prstGeom>
          <a:noFill/>
          <a:ln w="25400">
            <a:solidFill>
              <a:srgbClr val="E07A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34575" y="1577993"/>
            <a:ext cx="4206240" cy="28543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on Industry Data  ·  09</a:t>
            </a:r>
            <a:endParaRPr lang="en-US" sz="900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FE9CB8C-C337-BC3F-0AD6-C0F3548617A2}"/>
              </a:ext>
            </a:extLst>
          </p:cNvPr>
          <p:cNvSpPr txBox="1"/>
          <p:nvPr/>
        </p:nvSpPr>
        <p:spPr>
          <a:xfrm>
            <a:off x="239463" y="1315637"/>
            <a:ext cx="457887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latin typeface="Google Sans Text"/>
              </a:rPr>
              <a:t>Bivariate analysis</a:t>
            </a:r>
            <a:r>
              <a:rPr lang="en-US" sz="1200" dirty="0">
                <a:latin typeface="Google Sans Text"/>
              </a:rPr>
              <a:t> is the analysis of two variables together to understand the relationship between them.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Numerical vs Numerical </a:t>
            </a:r>
            <a:r>
              <a:rPr lang="en-US" sz="1200" dirty="0"/>
              <a:t>Represents analysis between measurable values (numbers) for example - Salary vs Experience Used to find correlation(strength of relationship) or trend.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Eg: in 1</a:t>
            </a:r>
            <a:r>
              <a:rPr lang="en-US" sz="1200" baseline="30000" dirty="0"/>
              <a:t>st</a:t>
            </a:r>
            <a:r>
              <a:rPr lang="en-US" sz="1200" dirty="0"/>
              <a:t> scatterplot visual all the bubbles show a balanced distribution around the median indicating no strong skewness and equally distributed around the median.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/>
          </a:p>
        </p:txBody>
      </p:sp>
      <p:pic>
        <p:nvPicPr>
          <p:cNvPr id="57" name="Picture 56">
            <a:extLst>
              <a:ext uri="{FF2B5EF4-FFF2-40B4-BE49-F238E27FC236}">
                <a16:creationId xmlns:a16="http://schemas.microsoft.com/office/drawing/2014/main" id="{38BCADE6-C4CA-7574-7831-EF109435AC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312" y="2894915"/>
            <a:ext cx="4574895" cy="1659749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F2D67CEC-CF51-1C78-4832-973EA10070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1319" y="2894915"/>
            <a:ext cx="3539117" cy="1743091"/>
          </a:xfrm>
          <a:prstGeom prst="rect">
            <a:avLst/>
          </a:prstGeom>
        </p:spPr>
      </p:pic>
      <p:sp>
        <p:nvSpPr>
          <p:cNvPr id="60" name="TextBox 59">
            <a:extLst>
              <a:ext uri="{FF2B5EF4-FFF2-40B4-BE49-F238E27FC236}">
                <a16:creationId xmlns:a16="http://schemas.microsoft.com/office/drawing/2014/main" id="{57783E81-ED40-3E5A-A3E8-120A52DDD77C}"/>
              </a:ext>
            </a:extLst>
          </p:cNvPr>
          <p:cNvSpPr txBox="1"/>
          <p:nvPr/>
        </p:nvSpPr>
        <p:spPr>
          <a:xfrm>
            <a:off x="4818337" y="2248584"/>
            <a:ext cx="38899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In 2</a:t>
            </a:r>
            <a:r>
              <a:rPr lang="en-US" sz="1200" baseline="30000" dirty="0"/>
              <a:t>nd</a:t>
            </a:r>
            <a:r>
              <a:rPr lang="en-US" sz="1200" dirty="0"/>
              <a:t> plot values and line is increasing or decreasing along year showing as the year increases, employee count or annual revenue increases and decreases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2920"/>
            <a:ext cx="9144000" cy="45720"/>
          </a:xfrm>
          <a:prstGeom prst="rect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4572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· Industry Dataset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685800"/>
            <a:ext cx="8412480" cy="47548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/>
            <a:r>
              <a:rPr lang="en-US" sz="24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Bivariate - </a:t>
            </a:r>
            <a:r>
              <a:rPr lang="en-IN" dirty="0"/>
              <a:t>Categorical vs Categorical</a:t>
            </a:r>
            <a:endParaRPr lang="en-IN" sz="2400" b="1" dirty="0">
              <a:solidFill>
                <a:srgbClr val="0F2A4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just">
              <a:buNone/>
            </a:pP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914400" cy="0"/>
          </a:xfrm>
          <a:prstGeom prst="line">
            <a:avLst/>
          </a:prstGeom>
          <a:noFill/>
          <a:ln w="25400">
            <a:solidFill>
              <a:srgbClr val="E07A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371600"/>
            <a:ext cx="42062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IN" sz="12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vs Categorical </a:t>
            </a:r>
            <a:r>
              <a:rPr lang="en-US" sz="1200" dirty="0"/>
              <a:t>Represents analysis between labels or groups (non-numeric values) for example: Gender vs Product choice</a:t>
            </a:r>
          </a:p>
          <a:p>
            <a:pPr marL="171450" indent="-171450"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200" dirty="0"/>
              <a:t>The mosaic plot shows plotting of 2 categorical cols with x-axis as Industry &amp; y-axis as Country that tells that the data is evenly spread with size. </a:t>
            </a:r>
          </a:p>
          <a:p>
            <a:pPr marL="171450" indent="-171450"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200" dirty="0"/>
              <a:t>Industry has similar rectangle sizes across countries; it suggests a balanced distribution.</a:t>
            </a:r>
          </a:p>
          <a:p>
            <a:pPr marL="171450" indent="-171450"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200" b="1" dirty="0"/>
              <a:t>In short:</a:t>
            </a:r>
            <a:r>
              <a:rPr lang="en-US" sz="1200" dirty="0"/>
              <a:t> Mosaic plots give a </a:t>
            </a:r>
            <a:r>
              <a:rPr lang="en-US" sz="1200" b="1" dirty="0"/>
              <a:t>visual snapshot of categorical relationships</a:t>
            </a:r>
            <a:r>
              <a:rPr lang="en-US" sz="1200" dirty="0"/>
              <a:t>, helping you spot </a:t>
            </a:r>
            <a:r>
              <a:rPr lang="en-US" sz="1200" b="1" dirty="0"/>
              <a:t>dominance, imbalance, and associations</a:t>
            </a:r>
            <a:r>
              <a:rPr lang="en-US" sz="1200" dirty="0"/>
              <a:t> at a glance.</a:t>
            </a:r>
          </a:p>
        </p:txBody>
      </p:sp>
      <p:sp>
        <p:nvSpPr>
          <p:cNvPr id="26" name="Text 24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on Industry Data  ·  10</a:t>
            </a:r>
            <a:endParaRPr lang="en-US" sz="90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CC4B6C14-E8A2-257B-5DEE-94950E5411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1264" y="1939391"/>
            <a:ext cx="3672065" cy="272404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175A5D-11AD-2F41-0817-56B5AA5F8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7FB85B6-F4D4-81E5-F0E8-253B5E518AC2}"/>
              </a:ext>
            </a:extLst>
          </p:cNvPr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A424240-738B-D0B9-5FF4-D4C11878BF28}"/>
              </a:ext>
            </a:extLst>
          </p:cNvPr>
          <p:cNvSpPr/>
          <p:nvPr/>
        </p:nvSpPr>
        <p:spPr>
          <a:xfrm>
            <a:off x="0" y="502920"/>
            <a:ext cx="9144000" cy="45720"/>
          </a:xfrm>
          <a:prstGeom prst="rect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CD44503-4204-A3AC-2085-1ECBA60ADE22}"/>
              </a:ext>
            </a:extLst>
          </p:cNvPr>
          <p:cNvSpPr/>
          <p:nvPr/>
        </p:nvSpPr>
        <p:spPr>
          <a:xfrm>
            <a:off x="365760" y="4572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· Industry Dataset</a:t>
            </a:r>
            <a:endParaRPr lang="en-US" sz="11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C0B03F3-D910-1E7D-4D69-D40D93B9053D}"/>
              </a:ext>
            </a:extLst>
          </p:cNvPr>
          <p:cNvSpPr/>
          <p:nvPr/>
        </p:nvSpPr>
        <p:spPr>
          <a:xfrm>
            <a:off x="365760" y="685800"/>
            <a:ext cx="8412480" cy="47548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/>
            <a:r>
              <a:rPr lang="en-US" sz="24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Bivariate - </a:t>
            </a:r>
            <a:r>
              <a:rPr lang="en-IN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vs Numerical</a:t>
            </a:r>
          </a:p>
          <a:p>
            <a:pPr marL="0" indent="0" algn="just">
              <a:buNone/>
            </a:pPr>
            <a:endParaRPr lang="en-US" sz="24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7DAFCF8C-F55F-26C2-164A-444109814623}"/>
              </a:ext>
            </a:extLst>
          </p:cNvPr>
          <p:cNvSpPr/>
          <p:nvPr/>
        </p:nvSpPr>
        <p:spPr>
          <a:xfrm>
            <a:off x="365760" y="1234440"/>
            <a:ext cx="914400" cy="0"/>
          </a:xfrm>
          <a:prstGeom prst="line">
            <a:avLst/>
          </a:prstGeom>
          <a:noFill/>
          <a:ln w="25400">
            <a:solidFill>
              <a:srgbClr val="E07A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B259BAA-290A-4FB1-D56B-2DC349F4AB63}"/>
              </a:ext>
            </a:extLst>
          </p:cNvPr>
          <p:cNvSpPr/>
          <p:nvPr/>
        </p:nvSpPr>
        <p:spPr>
          <a:xfrm>
            <a:off x="365760" y="1252728"/>
            <a:ext cx="3078709" cy="359358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IN" sz="1200" b="1" dirty="0">
                <a:solidFill>
                  <a:srgbClr val="0F2A47"/>
                </a:solidFill>
                <a:ea typeface="Calibri" pitchFamily="34" charset="-122"/>
                <a:cs typeface="Calibri" pitchFamily="34" charset="-120"/>
              </a:rPr>
              <a:t>Categorical vs Numerical </a:t>
            </a:r>
            <a:r>
              <a:rPr lang="en-US" sz="1200" dirty="0"/>
              <a:t>Represents analysis between measurable and non-numeric values for example: Salary vs Gender.</a:t>
            </a:r>
          </a:p>
          <a:p>
            <a:pPr marL="171450" indent="-171450"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200" dirty="0"/>
              <a:t>Categorical vs numerical gives a meaningful insight that’s easy to interpret compared to other 2 categories.</a:t>
            </a:r>
          </a:p>
          <a:p>
            <a:pPr marL="171450" indent="-171450"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200" dirty="0"/>
              <a:t>1</a:t>
            </a:r>
            <a:r>
              <a:rPr lang="en-US" sz="1200" baseline="30000" dirty="0"/>
              <a:t>st</a:t>
            </a:r>
            <a:r>
              <a:rPr lang="en-US" sz="1200" dirty="0"/>
              <a:t> Line visual showing data of Average Annual Revenue by Industry indicating that  Retail industry has                       highest revenue whereas health care has lowest values compared to others.</a:t>
            </a:r>
          </a:p>
          <a:p>
            <a:pPr marL="171450" indent="-171450"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200" dirty="0"/>
              <a:t> 2nd Facetgrid showing Industry vs Market rating that shows density of data is evenly spread telling no outliers and independent of each other. </a:t>
            </a:r>
            <a:r>
              <a:rPr lang="en-US" altLang="en-US" sz="1200" dirty="0"/>
              <a:t>Market ratings are consistent across industries. There may be no strong industry effect on this metric.</a:t>
            </a:r>
          </a:p>
          <a:p>
            <a:pPr marL="171450" indent="-171450"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200" dirty="0"/>
              <a:t>                                                                                                            </a:t>
            </a:r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FE4055B5-1DB4-066F-9791-9E87A8702CB9}"/>
              </a:ext>
            </a:extLst>
          </p:cNvPr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on Industry Data  ·  10</a:t>
            </a:r>
            <a:endParaRPr lang="en-US" sz="90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49B34CFC-B483-B7B2-A61C-B4DDDBE20A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9779" y="2749958"/>
            <a:ext cx="2616303" cy="2023178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3C21FE09-6DD7-5662-C092-2B2DE3FD86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1392" y="594359"/>
            <a:ext cx="2673832" cy="4206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6568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2920"/>
            <a:ext cx="9144000" cy="45720"/>
          </a:xfrm>
          <a:prstGeom prst="rect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4572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· Industry Dataset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6858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Multivariate · Correlation Matrix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914400" cy="0"/>
          </a:xfrm>
          <a:prstGeom prst="line">
            <a:avLst/>
          </a:prstGeom>
          <a:noFill/>
          <a:ln w="25400">
            <a:solidFill>
              <a:srgbClr val="E07A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080760" y="1554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0.55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583680" y="2560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0.52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572000" y="3063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0.55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5577840" y="3566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0.52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6583680" y="3566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365760" y="1293739"/>
            <a:ext cx="4023360" cy="36151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200" b="1" dirty="0"/>
              <a:t>Multivariate</a:t>
            </a:r>
            <a:r>
              <a:rPr lang="en-US" sz="1200" dirty="0"/>
              <a:t> analysis is the study of relationships among three or more variables simultaneously, allowing researchers to uncover complex patterns</a:t>
            </a:r>
            <a:endParaRPr lang="en-US" sz="1200" dirty="0">
              <a:solidFill>
                <a:srgbClr val="1F293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Correlation Heatmap </a:t>
            </a: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 visual representation that shows the strength and direction of relationships between multiple variables using color-coded values. Revenue ↔ employees count ↔ revenue ↔ customers count ↔ market rating.</a:t>
            </a:r>
          </a:p>
          <a:p>
            <a:pPr marL="171450" indent="-171450"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cell represents the correlation coefficient between two variables. Values range from -1 to +1:</a:t>
            </a:r>
          </a:p>
          <a:p>
            <a:pPr>
              <a:spcAft>
                <a:spcPts val="600"/>
              </a:spcAft>
              <a:buSzPct val="100000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+1 → strong positive relationship</a:t>
            </a:r>
          </a:p>
          <a:p>
            <a:pPr>
              <a:spcAft>
                <a:spcPts val="600"/>
              </a:spcAft>
              <a:buSzPct val="100000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-1 → strong negative relationship</a:t>
            </a:r>
          </a:p>
          <a:p>
            <a:pPr>
              <a:spcAft>
                <a:spcPts val="600"/>
              </a:spcAft>
              <a:buSzPct val="100000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 0 → no relationship</a:t>
            </a:r>
          </a:p>
          <a:p>
            <a:pPr marL="171450" indent="-171450"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Colors help quickly identify patterns: Warmer colors (e.g., red) indicate strong correlation, cooler colors (e.g., blue) indicate weak or no correlation</a:t>
            </a:r>
            <a:endParaRPr lang="en-US" sz="1200" dirty="0"/>
          </a:p>
        </p:txBody>
      </p:sp>
      <p:sp>
        <p:nvSpPr>
          <p:cNvPr id="69" name="Text 67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on Industry Data  ·  11</a:t>
            </a:r>
            <a:endParaRPr lang="en-US" sz="900" dirty="0"/>
          </a:p>
        </p:txBody>
      </p:sp>
      <p:pic>
        <p:nvPicPr>
          <p:cNvPr id="71" name="Picture 70">
            <a:extLst>
              <a:ext uri="{FF2B5EF4-FFF2-40B4-BE49-F238E27FC236}">
                <a16:creationId xmlns:a16="http://schemas.microsoft.com/office/drawing/2014/main" id="{2C8F0386-2057-A275-5B99-02D9E49D72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7647" y="1385179"/>
            <a:ext cx="3938310" cy="336970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4A5325-573D-1918-CB70-590FF0A06C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C4DF816-8E2B-27A9-18C5-A397703D76FE}"/>
              </a:ext>
            </a:extLst>
          </p:cNvPr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36E00A8B-2D6E-9AB7-EE49-4961641A75DA}"/>
              </a:ext>
            </a:extLst>
          </p:cNvPr>
          <p:cNvSpPr/>
          <p:nvPr/>
        </p:nvSpPr>
        <p:spPr>
          <a:xfrm>
            <a:off x="0" y="502920"/>
            <a:ext cx="9144000" cy="45720"/>
          </a:xfrm>
          <a:prstGeom prst="rect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160D005-CC28-24F1-FD0F-7F70108C8538}"/>
              </a:ext>
            </a:extLst>
          </p:cNvPr>
          <p:cNvSpPr/>
          <p:nvPr/>
        </p:nvSpPr>
        <p:spPr>
          <a:xfrm>
            <a:off x="365760" y="4572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· Industry Dataset</a:t>
            </a:r>
            <a:endParaRPr lang="en-US" sz="11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1194BE03-EEAA-154B-EAC8-6A48B845FC40}"/>
              </a:ext>
            </a:extLst>
          </p:cNvPr>
          <p:cNvSpPr/>
          <p:nvPr/>
        </p:nvSpPr>
        <p:spPr>
          <a:xfrm>
            <a:off x="6080760" y="1554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0.55</a:t>
            </a:r>
            <a:endParaRPr lang="en-US" sz="900" dirty="0"/>
          </a:p>
        </p:txBody>
      </p:sp>
      <p:sp>
        <p:nvSpPr>
          <p:cNvPr id="46" name="Text 44">
            <a:extLst>
              <a:ext uri="{FF2B5EF4-FFF2-40B4-BE49-F238E27FC236}">
                <a16:creationId xmlns:a16="http://schemas.microsoft.com/office/drawing/2014/main" id="{A21978F2-3920-9AEB-6AC2-A967B763E39F}"/>
              </a:ext>
            </a:extLst>
          </p:cNvPr>
          <p:cNvSpPr/>
          <p:nvPr/>
        </p:nvSpPr>
        <p:spPr>
          <a:xfrm>
            <a:off x="6583680" y="2560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0.52</a:t>
            </a:r>
            <a:endParaRPr lang="en-US" sz="900" dirty="0"/>
          </a:p>
        </p:txBody>
      </p:sp>
      <p:sp>
        <p:nvSpPr>
          <p:cNvPr id="48" name="Text 46">
            <a:extLst>
              <a:ext uri="{FF2B5EF4-FFF2-40B4-BE49-F238E27FC236}">
                <a16:creationId xmlns:a16="http://schemas.microsoft.com/office/drawing/2014/main" id="{D9E98C7E-B81F-1B12-F483-AC03225E12CE}"/>
              </a:ext>
            </a:extLst>
          </p:cNvPr>
          <p:cNvSpPr/>
          <p:nvPr/>
        </p:nvSpPr>
        <p:spPr>
          <a:xfrm>
            <a:off x="4572000" y="3063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0.55</a:t>
            </a:r>
            <a:endParaRPr lang="en-US" sz="900" dirty="0"/>
          </a:p>
        </p:txBody>
      </p:sp>
      <p:sp>
        <p:nvSpPr>
          <p:cNvPr id="62" name="Text 60">
            <a:extLst>
              <a:ext uri="{FF2B5EF4-FFF2-40B4-BE49-F238E27FC236}">
                <a16:creationId xmlns:a16="http://schemas.microsoft.com/office/drawing/2014/main" id="{2D1CE66D-851E-B62F-0A81-5CA3F0BB08B9}"/>
              </a:ext>
            </a:extLst>
          </p:cNvPr>
          <p:cNvSpPr/>
          <p:nvPr/>
        </p:nvSpPr>
        <p:spPr>
          <a:xfrm>
            <a:off x="5577840" y="3566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0.52</a:t>
            </a:r>
            <a:endParaRPr lang="en-US" sz="900" dirty="0"/>
          </a:p>
        </p:txBody>
      </p:sp>
      <p:sp>
        <p:nvSpPr>
          <p:cNvPr id="66" name="Text 64">
            <a:extLst>
              <a:ext uri="{FF2B5EF4-FFF2-40B4-BE49-F238E27FC236}">
                <a16:creationId xmlns:a16="http://schemas.microsoft.com/office/drawing/2014/main" id="{3F74CAEF-5F31-A41D-4438-B07F72166C3B}"/>
              </a:ext>
            </a:extLst>
          </p:cNvPr>
          <p:cNvSpPr/>
          <p:nvPr/>
        </p:nvSpPr>
        <p:spPr>
          <a:xfrm>
            <a:off x="6583680" y="3566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900" dirty="0"/>
          </a:p>
        </p:txBody>
      </p:sp>
      <p:sp>
        <p:nvSpPr>
          <p:cNvPr id="69" name="Text 67">
            <a:extLst>
              <a:ext uri="{FF2B5EF4-FFF2-40B4-BE49-F238E27FC236}">
                <a16:creationId xmlns:a16="http://schemas.microsoft.com/office/drawing/2014/main" id="{338F933F-1C30-64C7-8078-E8592B9EC0A8}"/>
              </a:ext>
            </a:extLst>
          </p:cNvPr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on Industry Data  ·  11</a:t>
            </a:r>
            <a:endParaRPr lang="en-US" sz="9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0935702-5043-A560-72D8-1579FA5256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23" y="594360"/>
            <a:ext cx="3960838" cy="239700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673DF59-CD5F-28BD-8EE5-8C354AB488EB}"/>
              </a:ext>
            </a:extLst>
          </p:cNvPr>
          <p:cNvSpPr txBox="1"/>
          <p:nvPr/>
        </p:nvSpPr>
        <p:spPr>
          <a:xfrm>
            <a:off x="4572000" y="1051560"/>
            <a:ext cx="364385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chemeClr val="accent1"/>
                </a:solidFill>
              </a:rPr>
              <a:t>Stacked Bar Chart showing Industry vs Region vs Revenue showing different colors &amp; sizes based on 3 cols combinations telling North America has more revenue compared to other regions</a:t>
            </a:r>
            <a:endParaRPr lang="en-IN" sz="1400" dirty="0">
              <a:solidFill>
                <a:schemeClr val="accent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3BAE995-0D63-2C0D-B0BA-9566F8CAAC18}"/>
              </a:ext>
            </a:extLst>
          </p:cNvPr>
          <p:cNvSpPr txBox="1"/>
          <p:nvPr/>
        </p:nvSpPr>
        <p:spPr>
          <a:xfrm>
            <a:off x="480232" y="3314700"/>
            <a:ext cx="358884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chemeClr val="accent1"/>
                </a:solidFill>
              </a:rPr>
              <a:t>Clubbed Bar Chart showing Industry vs Country vs Profit Margin showing different colors &amp; bar. It shows bar sizes are almost same in size for all telling the data is evenly distributed.</a:t>
            </a:r>
            <a:endParaRPr lang="en-IN" sz="1400" dirty="0">
              <a:solidFill>
                <a:schemeClr val="accent1"/>
              </a:solidFill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1B8BAC3-5363-6093-B593-2C05E5E17A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6373" y="2597869"/>
            <a:ext cx="4365744" cy="2416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20730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2920"/>
            <a:ext cx="9144000" cy="45720"/>
          </a:xfrm>
          <a:prstGeom prst="rect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4572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· Industry Dataset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6858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Detection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914400" cy="0"/>
          </a:xfrm>
          <a:prstGeom prst="line">
            <a:avLst/>
          </a:prstGeom>
          <a:noFill/>
          <a:ln w="25400">
            <a:solidFill>
              <a:srgbClr val="E07A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417319"/>
            <a:ext cx="4114800" cy="3428997"/>
          </a:xfrm>
          <a:prstGeom prst="rect">
            <a:avLst/>
          </a:prstGeom>
          <a:solidFill>
            <a:srgbClr val="FFFFFF"/>
          </a:solidFill>
          <a:ln w="12700">
            <a:solidFill>
              <a:srgbClr val="C9D8E4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365760" y="1417320"/>
            <a:ext cx="73152" cy="342899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15087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IQR Method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1874520"/>
            <a:ext cx="3840480" cy="6972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100" dirty="0"/>
              <a:t>Detects outliers based on data spread using: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100" dirty="0"/>
              <a:t>Lower bound = Q1 − 1.5 × IQR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100" dirty="0"/>
              <a:t>Upper bound = Q3 + 1.5 × IQR</a:t>
            </a:r>
          </a:p>
        </p:txBody>
      </p:sp>
      <p:sp>
        <p:nvSpPr>
          <p:cNvPr id="11" name="Shape 9"/>
          <p:cNvSpPr/>
          <p:nvPr/>
        </p:nvSpPr>
        <p:spPr>
          <a:xfrm>
            <a:off x="4663440" y="1417320"/>
            <a:ext cx="4114800" cy="3428996"/>
          </a:xfrm>
          <a:prstGeom prst="rect">
            <a:avLst/>
          </a:prstGeom>
          <a:solidFill>
            <a:srgbClr val="FFFFFF"/>
          </a:solidFill>
          <a:ln w="12700">
            <a:solidFill>
              <a:srgbClr val="C9D8E4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663440" y="1417319"/>
            <a:ext cx="73152" cy="3428995"/>
          </a:xfrm>
          <a:prstGeom prst="rect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46320" y="15087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Z-Score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46320" y="1874520"/>
            <a:ext cx="3840480" cy="5679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how far a data point is from the mean (in standard deviations). Common threshold: |Z-score| &gt; 3 → outlier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on Industry Data  ·  13</a:t>
            </a:r>
            <a:endParaRPr lang="en-US" sz="90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4F1F0522-6EFB-E750-07C6-C0E738C995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2442500"/>
            <a:ext cx="2600196" cy="2345774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C992CA36-9EBE-E424-79DB-55E4A3C0DE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3799" y="2290450"/>
            <a:ext cx="2917569" cy="249782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903C17-D41E-76F3-D625-029BDC1BB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05E3E87-7B38-86CB-BD1E-4AFC9FAC120D}"/>
              </a:ext>
            </a:extLst>
          </p:cNvPr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B4A3E028-D3D0-8B52-8953-F84F8A4820FC}"/>
              </a:ext>
            </a:extLst>
          </p:cNvPr>
          <p:cNvSpPr/>
          <p:nvPr/>
        </p:nvSpPr>
        <p:spPr>
          <a:xfrm>
            <a:off x="0" y="502920"/>
            <a:ext cx="9144000" cy="45720"/>
          </a:xfrm>
          <a:prstGeom prst="rect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2C3C943-5381-A516-D450-EDEB81A8709E}"/>
              </a:ext>
            </a:extLst>
          </p:cNvPr>
          <p:cNvSpPr/>
          <p:nvPr/>
        </p:nvSpPr>
        <p:spPr>
          <a:xfrm>
            <a:off x="365760" y="4572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· Industry Dataset</a:t>
            </a:r>
            <a:endParaRPr lang="en-US" sz="11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B976AE4-EE62-EE80-FC5C-E6316223BEB0}"/>
              </a:ext>
            </a:extLst>
          </p:cNvPr>
          <p:cNvSpPr/>
          <p:nvPr/>
        </p:nvSpPr>
        <p:spPr>
          <a:xfrm>
            <a:off x="365760" y="6858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Detection</a:t>
            </a:r>
            <a:endParaRPr lang="en-US" sz="24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8FDEC88F-12AE-9DFB-8924-6E9F59939AF2}"/>
              </a:ext>
            </a:extLst>
          </p:cNvPr>
          <p:cNvSpPr/>
          <p:nvPr/>
        </p:nvSpPr>
        <p:spPr>
          <a:xfrm>
            <a:off x="365760" y="1234440"/>
            <a:ext cx="914400" cy="0"/>
          </a:xfrm>
          <a:prstGeom prst="line">
            <a:avLst/>
          </a:prstGeom>
          <a:noFill/>
          <a:ln w="25400">
            <a:solidFill>
              <a:srgbClr val="E07A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BBC91050-C6A0-AC04-7664-1E3D6B08986A}"/>
              </a:ext>
            </a:extLst>
          </p:cNvPr>
          <p:cNvSpPr/>
          <p:nvPr/>
        </p:nvSpPr>
        <p:spPr>
          <a:xfrm>
            <a:off x="365760" y="1417319"/>
            <a:ext cx="4114800" cy="3428997"/>
          </a:xfrm>
          <a:prstGeom prst="rect">
            <a:avLst/>
          </a:prstGeom>
          <a:solidFill>
            <a:srgbClr val="FFFFFF"/>
          </a:solidFill>
          <a:ln w="12700">
            <a:solidFill>
              <a:srgbClr val="C9D8E4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2FE8F7FB-884D-2703-50F1-5BA88FCB0DDD}"/>
              </a:ext>
            </a:extLst>
          </p:cNvPr>
          <p:cNvSpPr/>
          <p:nvPr/>
        </p:nvSpPr>
        <p:spPr>
          <a:xfrm>
            <a:off x="365760" y="1417320"/>
            <a:ext cx="73152" cy="342899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F7025F9D-0ECC-1B03-3153-FCDCF982ADBE}"/>
              </a:ext>
            </a:extLst>
          </p:cNvPr>
          <p:cNvSpPr/>
          <p:nvPr/>
        </p:nvSpPr>
        <p:spPr>
          <a:xfrm>
            <a:off x="548640" y="15087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b="1" dirty="0"/>
              <a:t>3. </a:t>
            </a:r>
            <a:r>
              <a:rPr lang="en-IN" sz="1300" b="1" dirty="0"/>
              <a:t>Boxplot Visualization</a:t>
            </a:r>
          </a:p>
          <a:p>
            <a:pPr marL="0" indent="0">
              <a:buNone/>
            </a:pPr>
            <a:endParaRPr lang="en-US" sz="1100" b="1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7E0E62C8-0461-207B-BF5F-C1AE2C2D025F}"/>
              </a:ext>
            </a:extLst>
          </p:cNvPr>
          <p:cNvSpPr/>
          <p:nvPr/>
        </p:nvSpPr>
        <p:spPr>
          <a:xfrm>
            <a:off x="548640" y="1874520"/>
            <a:ext cx="3840480" cy="44929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100" dirty="0"/>
              <a:t>Visual tool that highlights: Median, quartiles, and spread Outliers as individual points beyond whiskers</a:t>
            </a:r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0B285887-6AD2-B055-90BD-E832368785B9}"/>
              </a:ext>
            </a:extLst>
          </p:cNvPr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on Industry Data  ·  13</a:t>
            </a:r>
            <a:endParaRPr lang="en-US" sz="9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88CF26D-78EC-97EF-5357-65A947A36D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942" y="2571750"/>
            <a:ext cx="3134163" cy="1938608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1321D644-51FA-8F37-4214-A0923FAF37AC}"/>
              </a:ext>
            </a:extLst>
          </p:cNvPr>
          <p:cNvSpPr txBox="1"/>
          <p:nvPr/>
        </p:nvSpPr>
        <p:spPr>
          <a:xfrm>
            <a:off x="4757590" y="1483757"/>
            <a:ext cx="366585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All the 3 outlier methods indicate that employee count, annual revenue, market rating, customer count and profit margin are all evenly distributed with no visible outliers:</a:t>
            </a:r>
          </a:p>
          <a:p>
            <a:r>
              <a:rPr lang="en-US" sz="1200" dirty="0">
                <a:solidFill>
                  <a:srgbClr val="C00000"/>
                </a:solidFill>
              </a:rPr>
              <a:t>1. Since rating scale is bounded likely 0–5, all values fall within range → no outliers detected.</a:t>
            </a:r>
          </a:p>
          <a:p>
            <a:endParaRPr lang="en-US" sz="1200" dirty="0">
              <a:solidFill>
                <a:srgbClr val="C00000"/>
              </a:solidFill>
            </a:endParaRPr>
          </a:p>
          <a:p>
            <a:r>
              <a:rPr lang="en-US" sz="1200" dirty="0">
                <a:solidFill>
                  <a:srgbClr val="C00000"/>
                </a:solidFill>
              </a:rPr>
              <a:t>2. The Z-score analysis confirms that all variables fall within ±2 standard deviations, indicating a well-balanced and normally distributed dataset with no outliers.</a:t>
            </a:r>
          </a:p>
          <a:p>
            <a:endParaRPr lang="en-US" sz="1200" dirty="0">
              <a:solidFill>
                <a:srgbClr val="C00000"/>
              </a:solidFill>
            </a:endParaRPr>
          </a:p>
          <a:p>
            <a:r>
              <a:rPr lang="en-US" sz="1200" dirty="0">
                <a:solidFill>
                  <a:srgbClr val="C00000"/>
                </a:solidFill>
              </a:rPr>
              <a:t>3. The close alignment of mean and median across\n all variables suggests low skewness and strong data symmetry, making the dataset statistically clean and suitable for further analysis.</a:t>
            </a:r>
            <a:endParaRPr lang="en-IN" sz="12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01089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2920"/>
            <a:ext cx="9144000" cy="45720"/>
          </a:xfrm>
          <a:prstGeom prst="rect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4572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· Industry Dataset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5760" y="394106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65760" y="491490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on Industry Data  ·  14</a:t>
            </a:r>
            <a:endParaRPr lang="en-US" sz="900" dirty="0"/>
          </a:p>
        </p:txBody>
      </p:sp>
      <p:sp>
        <p:nvSpPr>
          <p:cNvPr id="25" name="Text 3">
            <a:extLst>
              <a:ext uri="{FF2B5EF4-FFF2-40B4-BE49-F238E27FC236}">
                <a16:creationId xmlns:a16="http://schemas.microsoft.com/office/drawing/2014/main" id="{B6757848-01F8-9462-3E04-ECCECD8525BC}"/>
              </a:ext>
            </a:extLst>
          </p:cNvPr>
          <p:cNvSpPr/>
          <p:nvPr/>
        </p:nvSpPr>
        <p:spPr>
          <a:xfrm>
            <a:off x="365760" y="6858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Skewness &amp; Kurtosis</a:t>
            </a:r>
            <a:endParaRPr lang="en-US" sz="2400" dirty="0"/>
          </a:p>
        </p:txBody>
      </p:sp>
      <p:sp>
        <p:nvSpPr>
          <p:cNvPr id="26" name="Shape 4">
            <a:extLst>
              <a:ext uri="{FF2B5EF4-FFF2-40B4-BE49-F238E27FC236}">
                <a16:creationId xmlns:a16="http://schemas.microsoft.com/office/drawing/2014/main" id="{A63110C5-0BBB-124A-94D4-36013DEAA46C}"/>
              </a:ext>
            </a:extLst>
          </p:cNvPr>
          <p:cNvSpPr/>
          <p:nvPr/>
        </p:nvSpPr>
        <p:spPr>
          <a:xfrm>
            <a:off x="365760" y="1234440"/>
            <a:ext cx="914400" cy="0"/>
          </a:xfrm>
          <a:prstGeom prst="line">
            <a:avLst/>
          </a:prstGeom>
          <a:noFill/>
          <a:ln w="25400">
            <a:solidFill>
              <a:srgbClr val="E07A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">
            <a:extLst>
              <a:ext uri="{FF2B5EF4-FFF2-40B4-BE49-F238E27FC236}">
                <a16:creationId xmlns:a16="http://schemas.microsoft.com/office/drawing/2014/main" id="{0C56EF8A-5FDB-F8CB-B528-E1D5B49EB9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516" y="1234440"/>
            <a:ext cx="4040730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Skewness :</a:t>
            </a:r>
            <a:r>
              <a:rPr lang="en-US" sz="1200" dirty="0"/>
              <a:t> Measures the </a:t>
            </a:r>
            <a:r>
              <a:rPr lang="en-US" sz="1200" i="1" dirty="0"/>
              <a:t>asymmetry</a:t>
            </a:r>
            <a:r>
              <a:rPr lang="en-US" sz="1200" dirty="0"/>
              <a:t> of a distribution around its mean.</a:t>
            </a:r>
            <a:r>
              <a:rPr lang="en-US" altLang="en-US" sz="1200" dirty="0">
                <a:latin typeface="Arial" panose="020B0604020202020204" pitchFamily="34" charset="0"/>
              </a:rPr>
              <a:t> It tells you if your data leans left or right.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IN" sz="1200" b="1" dirty="0"/>
              <a:t>Types</a:t>
            </a:r>
            <a:r>
              <a:rPr lang="en-IN" sz="1200" dirty="0"/>
              <a:t>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IN" sz="1200" b="1" dirty="0"/>
              <a:t>Positive skew</a:t>
            </a:r>
            <a:r>
              <a:rPr lang="en-IN" sz="1200" dirty="0"/>
              <a:t> → Long right tail; mean &gt; median (e.g., income distribution).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IN" sz="1200" b="1" dirty="0"/>
              <a:t>Negative skew</a:t>
            </a:r>
            <a:r>
              <a:rPr lang="en-IN" sz="1200" dirty="0"/>
              <a:t> → Long left tail; mean &lt; median (e.g., exam scores where most students score high).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IN" sz="1200" b="1" dirty="0"/>
              <a:t>Zero skew</a:t>
            </a:r>
            <a:r>
              <a:rPr lang="en-IN" sz="1200" dirty="0"/>
              <a:t> → Perfect symmetry (normal distribution)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Kurtosis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tells you if your data is flat or sharply peaked with heavy tails. Together, they help you judge whether your dataset behaves like a normal distribution or needs adjustment before analysis.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IN" sz="1200" b="1" dirty="0"/>
              <a:t>Types</a:t>
            </a:r>
            <a:r>
              <a:rPr lang="en-IN" sz="1200" dirty="0"/>
              <a:t>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IN" sz="1200" b="1" dirty="0"/>
              <a:t>Mesokurtic (≈3)</a:t>
            </a:r>
            <a:r>
              <a:rPr lang="en-IN" sz="1200" dirty="0"/>
              <a:t> → Normal‑like peak and tails.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IN" sz="1200" b="1" dirty="0"/>
              <a:t>Leptokurtic (&gt;3)</a:t>
            </a:r>
            <a:r>
              <a:rPr lang="en-IN" sz="1200" dirty="0"/>
              <a:t> → Sharp peak, heavy tails → more outliers.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IN" sz="1200" b="1" dirty="0"/>
              <a:t>Platykurtic (&lt;3)</a:t>
            </a:r>
            <a:r>
              <a:rPr lang="en-IN" sz="1200" dirty="0"/>
              <a:t> → Flat peak, light tails → fewer extremes.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5CEC8CBD-00C3-72E4-D2ED-C2BACB8F65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3639" y="3639981"/>
            <a:ext cx="3877216" cy="1333686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9927EDD7-FDAE-A880-FB0E-071E9362F7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6947" y="752246"/>
            <a:ext cx="4188044" cy="277156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6A9D47-0678-C37C-B670-6CE0839314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8E4DAF5-F793-8FBA-09F9-68E5D5AAFCB1}"/>
              </a:ext>
            </a:extLst>
          </p:cNvPr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BD967BB-EDDE-961B-86BE-A861D0B1FB8B}"/>
              </a:ext>
            </a:extLst>
          </p:cNvPr>
          <p:cNvSpPr/>
          <p:nvPr/>
        </p:nvSpPr>
        <p:spPr>
          <a:xfrm>
            <a:off x="0" y="502920"/>
            <a:ext cx="9144000" cy="45720"/>
          </a:xfrm>
          <a:prstGeom prst="rect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D3E4C19-F440-8004-A844-A72E9109CE5F}"/>
              </a:ext>
            </a:extLst>
          </p:cNvPr>
          <p:cNvSpPr/>
          <p:nvPr/>
        </p:nvSpPr>
        <p:spPr>
          <a:xfrm>
            <a:off x="365760" y="4572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· Industry Dataset</a:t>
            </a:r>
            <a:endParaRPr lang="en-US" sz="11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ED66AB7-5F0F-46F2-6A45-F33198ADB904}"/>
              </a:ext>
            </a:extLst>
          </p:cNvPr>
          <p:cNvSpPr/>
          <p:nvPr/>
        </p:nvSpPr>
        <p:spPr>
          <a:xfrm>
            <a:off x="365760" y="6858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 Themes</a:t>
            </a:r>
            <a:endParaRPr lang="en-US" sz="24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02899B49-C0A2-6AB1-50FB-75E54180A187}"/>
              </a:ext>
            </a:extLst>
          </p:cNvPr>
          <p:cNvSpPr/>
          <p:nvPr/>
        </p:nvSpPr>
        <p:spPr>
          <a:xfrm>
            <a:off x="365760" y="1234440"/>
            <a:ext cx="914400" cy="0"/>
          </a:xfrm>
          <a:prstGeom prst="line">
            <a:avLst/>
          </a:prstGeom>
          <a:noFill/>
          <a:ln w="25400">
            <a:solidFill>
              <a:srgbClr val="E07A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61574A99-E757-66F9-83E6-3C49177F5355}"/>
              </a:ext>
            </a:extLst>
          </p:cNvPr>
          <p:cNvSpPr/>
          <p:nvPr/>
        </p:nvSpPr>
        <p:spPr>
          <a:xfrm>
            <a:off x="365760" y="1417320"/>
            <a:ext cx="365760" cy="365760"/>
          </a:xfrm>
          <a:prstGeom prst="ellipse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7F457EC3-9E91-9DE1-A416-3886CF0E238C}"/>
              </a:ext>
            </a:extLst>
          </p:cNvPr>
          <p:cNvSpPr/>
          <p:nvPr/>
        </p:nvSpPr>
        <p:spPr>
          <a:xfrm>
            <a:off x="365760" y="1417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703DA4E5-F308-A485-8E91-2ED9CEB916CB}"/>
              </a:ext>
            </a:extLst>
          </p:cNvPr>
          <p:cNvSpPr/>
          <p:nvPr/>
        </p:nvSpPr>
        <p:spPr>
          <a:xfrm>
            <a:off x="868680" y="13716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vs Profitability</a:t>
            </a:r>
            <a:endParaRPr lang="en-US" sz="14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1E0916FA-FC43-F6EA-BEEA-B6E9F26E6EE4}"/>
              </a:ext>
            </a:extLst>
          </p:cNvPr>
          <p:cNvSpPr/>
          <p:nvPr/>
        </p:nvSpPr>
        <p:spPr>
          <a:xfrm>
            <a:off x="868680" y="169164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firms by employee_count generally lead revenue, but the highest profit_margin_percent values often emerge from mid-sized, focused players.</a:t>
            </a:r>
            <a:endParaRPr lang="en-US" sz="115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BF920D86-0032-C2A4-AB06-C81722BC0B96}"/>
              </a:ext>
            </a:extLst>
          </p:cNvPr>
          <p:cNvSpPr/>
          <p:nvPr/>
        </p:nvSpPr>
        <p:spPr>
          <a:xfrm>
            <a:off x="365760" y="2258568"/>
            <a:ext cx="365760" cy="365760"/>
          </a:xfrm>
          <a:prstGeom prst="ellipse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01419B9A-83F9-672E-0C33-0B187C3DFBEF}"/>
              </a:ext>
            </a:extLst>
          </p:cNvPr>
          <p:cNvSpPr/>
          <p:nvPr/>
        </p:nvSpPr>
        <p:spPr>
          <a:xfrm>
            <a:off x="365760" y="22585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C5F03342-05CE-D443-AF4C-696DAA9F1D0E}"/>
              </a:ext>
            </a:extLst>
          </p:cNvPr>
          <p:cNvSpPr/>
          <p:nvPr/>
        </p:nvSpPr>
        <p:spPr>
          <a:xfrm>
            <a:off x="868680" y="2212848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Concentration</a:t>
            </a:r>
            <a:endParaRPr lang="en-US" sz="14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590B7509-1AB7-AF24-5A40-1F743241B9C3}"/>
              </a:ext>
            </a:extLst>
          </p:cNvPr>
          <p:cNvSpPr/>
          <p:nvPr/>
        </p:nvSpPr>
        <p:spPr>
          <a:xfrm>
            <a:off x="868680" y="2532888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set of countries drives the bulk of records; region rollups expose where industries cluster and where coverage thins.</a:t>
            </a:r>
            <a:endParaRPr lang="en-US" sz="115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EBD3328E-27C6-4732-852B-CE92552B155D}"/>
              </a:ext>
            </a:extLst>
          </p:cNvPr>
          <p:cNvSpPr/>
          <p:nvPr/>
        </p:nvSpPr>
        <p:spPr>
          <a:xfrm>
            <a:off x="365760" y="3099816"/>
            <a:ext cx="365760" cy="365760"/>
          </a:xfrm>
          <a:prstGeom prst="ellipse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6F9DFD74-4B49-67AF-C155-1E57D05CDD92}"/>
              </a:ext>
            </a:extLst>
          </p:cNvPr>
          <p:cNvSpPr/>
          <p:nvPr/>
        </p:nvSpPr>
        <p:spPr>
          <a:xfrm>
            <a:off x="365760" y="30998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56BB537F-4472-56FA-93F9-5734BCED0E9D}"/>
              </a:ext>
            </a:extLst>
          </p:cNvPr>
          <p:cNvSpPr/>
          <p:nvPr/>
        </p:nvSpPr>
        <p:spPr>
          <a:xfrm>
            <a:off x="868680" y="3054096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Dynamics</a:t>
            </a:r>
            <a:endParaRPr lang="en-US" sz="14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DBFCB8B0-0EA2-80D8-7C68-0CB025346FAF}"/>
              </a:ext>
            </a:extLst>
          </p:cNvPr>
          <p:cNvSpPr/>
          <p:nvPr/>
        </p:nvSpPr>
        <p:spPr>
          <a:xfrm>
            <a:off x="868680" y="3374136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Founding year cohorts show distinct industry mixes; recent vintages skew toward technology and platform business models.</a:t>
            </a:r>
            <a:endParaRPr lang="en-US" sz="1150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611B12D3-F151-3AFA-43BE-234C32EE0B62}"/>
              </a:ext>
            </a:extLst>
          </p:cNvPr>
          <p:cNvSpPr/>
          <p:nvPr/>
        </p:nvSpPr>
        <p:spPr>
          <a:xfrm>
            <a:off x="365760" y="3941064"/>
            <a:ext cx="365760" cy="365760"/>
          </a:xfrm>
          <a:prstGeom prst="ellipse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3D3CA7B3-B38A-FE68-5A09-0569F100AF33}"/>
              </a:ext>
            </a:extLst>
          </p:cNvPr>
          <p:cNvSpPr/>
          <p:nvPr/>
        </p:nvSpPr>
        <p:spPr>
          <a:xfrm>
            <a:off x="365760" y="394106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99550C01-0A68-6985-7E8F-ECCCF3B376AA}"/>
              </a:ext>
            </a:extLst>
          </p:cNvPr>
          <p:cNvSpPr/>
          <p:nvPr/>
        </p:nvSpPr>
        <p:spPr>
          <a:xfrm>
            <a:off x="868680" y="3895344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Signal</a:t>
            </a:r>
            <a:endParaRPr lang="en-US" sz="14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FBE5FE98-ABF8-8598-0F0C-BCA47CBD4564}"/>
              </a:ext>
            </a:extLst>
          </p:cNvPr>
          <p:cNvSpPr/>
          <p:nvPr/>
        </p:nvSpPr>
        <p:spPr>
          <a:xfrm>
            <a:off x="868680" y="4215384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market_rating correlates more with profit_margin_percent than with raw size — quality of earnings matters more than scale.</a:t>
            </a:r>
            <a:endParaRPr lang="en-US" sz="115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F3AF7E21-A1BC-1FEC-5487-AF1E1A182D0A}"/>
              </a:ext>
            </a:extLst>
          </p:cNvPr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on Industry Data  ·  14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1693153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164592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TM16401375[[fn=Madison]]</Template>
  <TotalTime>1089</TotalTime>
  <Words>1712</Words>
  <Application>Microsoft Office PowerPoint</Application>
  <PresentationFormat>On-screen Show (16:9)</PresentationFormat>
  <Paragraphs>211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Courier New</vt:lpstr>
      <vt:lpstr>Google Sans Text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Umanath Naik, Sukanya</dc:creator>
  <cp:lastModifiedBy>Sukanya Naik</cp:lastModifiedBy>
  <cp:revision>18</cp:revision>
  <dcterms:created xsi:type="dcterms:W3CDTF">2026-06-05T15:54:58Z</dcterms:created>
  <dcterms:modified xsi:type="dcterms:W3CDTF">2026-06-06T10:57:36Z</dcterms:modified>
</cp:coreProperties>
</file>